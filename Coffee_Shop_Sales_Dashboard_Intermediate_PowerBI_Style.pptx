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EA0FF"/>
                </a:solidFill>
                <a:latin typeface="Aptos"/>
              </a:defRPr>
            </a:pPr>
            <a:r>
              <a:t>BUSINESS ANALYTICS •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6FF"/>
                </a:solidFill>
                <a:latin typeface="Aptos"/>
              </a:defRPr>
            </a:pPr>
            <a:r>
              <a:t>COFFEE SHOP</a:t>
            </a:r>
          </a:p>
          <a:p>
            <a:pPr>
              <a:defRPr sz="3600" b="1">
                <a:solidFill>
                  <a:srgbClr val="F8F6FF"/>
                </a:solidFill>
                <a:latin typeface="Aptos"/>
              </a:defRPr>
            </a:pPr>
            <a:r>
              <a:t>SALES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B9B3CA"/>
                </a:solidFill>
                <a:latin typeface="Aptos"/>
              </a:defRPr>
            </a:pPr>
            <a:r>
              <a:t>A practical guide to revenue, product mix, store performance, and sales timing.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9834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EA0FF"/>
                </a:solidFill>
                <a:latin typeface="Aptos"/>
              </a:defRPr>
            </a:pPr>
            <a:r>
              <a:t>BBA BUSINESS ANALYTICS • SECOND-YEAR PROJECT 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080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9B3CA"/>
                </a:solidFill>
                <a:latin typeface="Aptos"/>
              </a:defRPr>
            </a:pPr>
            <a:r>
              <a:t>Note: figures in this sample deck come from a simulated practice dataset, not the public source dataset.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280160"/>
            <a:ext cx="2560320" cy="1005840"/>
          </a:xfrm>
          <a:prstGeom prst="roundRect">
            <a:avLst/>
          </a:prstGeom>
          <a:solidFill>
            <a:srgbClr val="2B1F43"/>
          </a:solidFill>
          <a:ln>
            <a:solidFill>
              <a:srgbClr val="874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0" y="2514600"/>
            <a:ext cx="2286000" cy="1005840"/>
          </a:xfrm>
          <a:prstGeom prst="roundRect">
            <a:avLst/>
          </a:prstGeom>
          <a:solidFill>
            <a:srgbClr val="2B1F43"/>
          </a:solidFill>
          <a:ln>
            <a:solidFill>
              <a:srgbClr val="874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0" y="3749039"/>
            <a:ext cx="2743200" cy="1005840"/>
          </a:xfrm>
          <a:prstGeom prst="roundRect">
            <a:avLst/>
          </a:prstGeom>
          <a:solidFill>
            <a:srgbClr val="2B1F43"/>
          </a:solidFill>
          <a:ln>
            <a:solidFill>
              <a:srgbClr val="874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60" y="153619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EA0FF"/>
                </a:solidFill>
                <a:latin typeface="Aptos"/>
              </a:defRPr>
            </a:pPr>
            <a:r>
              <a:t>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277063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EA0FF"/>
                </a:solidFill>
                <a:latin typeface="Aptos"/>
              </a:defRPr>
            </a:pPr>
            <a:r>
              <a:t>PRODUCTS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00507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EA0FF"/>
                </a:solidFill>
                <a:latin typeface="Aptos"/>
              </a:defRPr>
            </a:pPr>
            <a:r>
              <a:t>STORE MIX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9B3CA"/>
                </a:solidFill>
                <a:latin typeface="Aptos"/>
              </a:defRPr>
            </a:pPr>
            <a:r>
              <a:t>COFFEE SHOP SALES INTELLIGENCE • PRACTICE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9B3CA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EA0FF"/>
                </a:solidFill>
                <a:latin typeface="Aptos"/>
              </a:defRPr>
            </a:pPr>
            <a:r>
              <a:t>01 — DASHBOARD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6FF"/>
                </a:solidFill>
                <a:latin typeface="Aptos"/>
              </a:defRPr>
            </a:pPr>
            <a:r>
              <a:t>ONE SCREEN, SIX WAYS TO READ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9B3CA"/>
                </a:solidFill>
                <a:latin typeface="Aptos"/>
              </a:defRPr>
            </a:pPr>
            <a:r>
              <a:t>The dashboard combines headline KPIs with focused views for products, stores, and time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9B3CA"/>
                </a:solidFill>
                <a:latin typeface="Aptos"/>
              </a:defRPr>
            </a:pPr>
            <a:r>
              <a:t>COFFEE SHOP SALES INTELLIGENCE • PRACTICE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9B3C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3429000" cy="1051560"/>
          </a:xfrm>
          <a:prstGeom prst="roundRect">
            <a:avLst/>
          </a:prstGeom>
          <a:solidFill>
            <a:srgbClr val="231D33"/>
          </a:solidFill>
          <a:ln>
            <a:solidFill>
              <a:srgbClr val="874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68879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EA0FF"/>
                </a:solidFill>
                <a:latin typeface="Aptos"/>
              </a:defRPr>
            </a:pPr>
            <a:r>
              <a:t>TOTAL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7706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6FF"/>
                </a:solidFill>
                <a:latin typeface="Aptos"/>
              </a:defRPr>
            </a:pPr>
            <a:r>
              <a:t>$6,504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331720"/>
            <a:ext cx="3429000" cy="1051560"/>
          </a:xfrm>
          <a:prstGeom prst="roundRect">
            <a:avLst/>
          </a:prstGeom>
          <a:solidFill>
            <a:srgbClr val="231D33"/>
          </a:solidFill>
          <a:ln>
            <a:solidFill>
              <a:srgbClr val="874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468879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EA0FF"/>
                </a:solidFill>
                <a:latin typeface="Aptos"/>
              </a:defRPr>
            </a:pPr>
            <a:r>
              <a:t>EST. 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7706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6FF"/>
                </a:solidFill>
                <a:latin typeface="Aptos"/>
              </a:defRPr>
            </a:pPr>
            <a:r>
              <a:t>$3,155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2331720"/>
            <a:ext cx="3429000" cy="1051560"/>
          </a:xfrm>
          <a:prstGeom prst="roundRect">
            <a:avLst/>
          </a:prstGeom>
          <a:solidFill>
            <a:srgbClr val="231D33"/>
          </a:solidFill>
          <a:ln>
            <a:solidFill>
              <a:srgbClr val="874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2" y="2468879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EA0FF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27706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6FF"/>
                </a:solidFill>
                <a:latin typeface="Aptos"/>
              </a:defRPr>
            </a:pPr>
            <a:r>
              <a:t>1,500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749039"/>
            <a:ext cx="3429000" cy="1051560"/>
          </a:xfrm>
          <a:prstGeom prst="roundRect">
            <a:avLst/>
          </a:prstGeom>
          <a:solidFill>
            <a:srgbClr val="231D33"/>
          </a:solidFill>
          <a:ln>
            <a:solidFill>
              <a:srgbClr val="874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8862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EA0FF"/>
                </a:solidFill>
                <a:latin typeface="Aptos"/>
              </a:defRPr>
            </a:pPr>
            <a:r>
              <a:t>UNITS SOLD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18795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6FF"/>
                </a:solidFill>
                <a:latin typeface="Aptos"/>
              </a:defRPr>
            </a:pPr>
            <a:r>
              <a:t>2,060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749039"/>
            <a:ext cx="3429000" cy="1051560"/>
          </a:xfrm>
          <a:prstGeom prst="roundRect">
            <a:avLst/>
          </a:prstGeom>
          <a:solidFill>
            <a:srgbClr val="231D33"/>
          </a:solidFill>
          <a:ln>
            <a:solidFill>
              <a:srgbClr val="874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38862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EA0FF"/>
                </a:solidFill>
                <a:latin typeface="Aptos"/>
              </a:defRPr>
            </a:pPr>
            <a:r>
              <a:t>PROFIT MARGIN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418795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6FF"/>
                </a:solidFill>
                <a:latin typeface="Aptos"/>
              </a:defRPr>
            </a:pPr>
            <a:r>
              <a:t>48.5%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3749039"/>
            <a:ext cx="3429000" cy="1051560"/>
          </a:xfrm>
          <a:prstGeom prst="roundRect">
            <a:avLst/>
          </a:prstGeom>
          <a:solidFill>
            <a:srgbClr val="231D33"/>
          </a:solidFill>
          <a:ln>
            <a:solidFill>
              <a:srgbClr val="874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38862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EA0FF"/>
                </a:solidFill>
                <a:latin typeface="Aptos"/>
              </a:defRPr>
            </a:pPr>
            <a:r>
              <a:t>PRODUCT CATEGORIES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2" y="418795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6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4406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9B3CA"/>
                </a:solidFill>
                <a:latin typeface="Aptos"/>
              </a:defRPr>
            </a:pPr>
            <a:r>
              <a:t>Use filters for month, store location, and product category when building the interactive version.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EA0FF"/>
                </a:solidFill>
                <a:latin typeface="Aptos"/>
              </a:defRPr>
            </a:pPr>
            <a:r>
              <a:t>02 — HEADLINE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6FF"/>
                </a:solidFill>
                <a:latin typeface="Aptos"/>
              </a:defRPr>
            </a:pPr>
            <a:r>
              <a:t>SIX NUMBERS SET THE BUSINESS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9B3CA"/>
                </a:solidFill>
                <a:latin typeface="Aptos"/>
              </a:defRPr>
            </a:pPr>
            <a:r>
              <a:t>These metrics are calculated from the included practice CSV. Replace them after importing the real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9B3CA"/>
                </a:solidFill>
                <a:latin typeface="Aptos"/>
              </a:defRPr>
            </a:pPr>
            <a:r>
              <a:t>COFFEE SHOP SALES INTELLIGENCE • PRACTICE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9B3C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6FF"/>
                </a:solidFill>
                <a:latin typeface="Aptos"/>
              </a:defRPr>
            </a:pPr>
            <a:r>
              <a:t>• Revenue: $6,503.82 — sum of transaction revenue after discounts.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6FF"/>
                </a:solidFill>
                <a:latin typeface="Aptos"/>
              </a:defRPr>
            </a:pPr>
            <a:r>
              <a:t>• Estimated profit: $3,154.57 — revenue minus estimated product cost.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6FF"/>
                </a:solidFill>
                <a:latin typeface="Aptos"/>
              </a:defRPr>
            </a:pPr>
            <a:r>
              <a:t>• Transactions: 1,500 — each row represents one transaction.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3192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6FF"/>
                </a:solidFill>
                <a:latin typeface="Aptos"/>
              </a:defRPr>
            </a:pPr>
            <a:r>
              <a:t>• Units sold: 2,060 — total quantity across all transactions.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6FF"/>
                </a:solidFill>
                <a:latin typeface="Aptos"/>
              </a:defRPr>
            </a:pPr>
            <a:r>
              <a:t>• Profit margin: 48.5% — estimated profit divided by revenue.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12064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6FF"/>
                </a:solidFill>
                <a:latin typeface="Aptos"/>
              </a:defRPr>
            </a:pPr>
            <a:r>
              <a:t>• Average order value: revenue ÷ transaction count.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EA0FF"/>
                </a:solidFill>
                <a:latin typeface="Aptos"/>
              </a:defRPr>
            </a:pPr>
            <a:r>
              <a:t>03 — PROFIT GAUGE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6FF"/>
                </a:solidFill>
                <a:latin typeface="Aptos"/>
              </a:defRPr>
            </a:pPr>
            <a:r>
              <a:t>PROFIT MARGIN SHOWS HOW MUCH REVENUE REMAINS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9B3CA"/>
                </a:solidFill>
                <a:latin typeface="Aptos"/>
              </a:defRPr>
            </a:pPr>
            <a:r>
              <a:t>A gauge can compare actual margin with a target set by the business; the target should not be chosen just to make the chart look good.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9B3CA"/>
                </a:solidFill>
                <a:latin typeface="Aptos"/>
              </a:defRPr>
            </a:pPr>
            <a:r>
              <a:t>COFFEE SHOP SALES INTELLIGENCE • PRACTICE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9B3C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10515600" cy="457200"/>
          </a:xfrm>
          <a:prstGeom prst="roundRect">
            <a:avLst/>
          </a:prstGeom>
          <a:solidFill>
            <a:srgbClr val="38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10515600" cy="457200"/>
          </a:xfrm>
          <a:prstGeom prst="roundRect">
            <a:avLst/>
          </a:prstGeom>
          <a:solidFill>
            <a:srgbClr val="874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6FF"/>
                </a:solidFill>
                <a:latin typeface="Aptos"/>
              </a:defRPr>
            </a:pPr>
            <a:r>
              <a:t>CURRENT ESTIMATED MARGIN: 48.5%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9B3CA"/>
                </a:solidFill>
                <a:latin typeface="Aptos"/>
              </a:defRPr>
            </a:pPr>
            <a:r>
              <a:t>Illustrative target: 35% margin. Actual target should come from the business owner.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434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EA0FF"/>
                </a:solidFill>
                <a:latin typeface="Aptos"/>
              </a:defRPr>
            </a:pPr>
            <a:r>
              <a:t>Caution: cost is simulated in this practice file. Do not present estimated profit as audited financial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EA0FF"/>
                </a:solidFill>
                <a:latin typeface="Aptos"/>
              </a:defRPr>
            </a:pPr>
            <a:r>
              <a:t>04 — PRODUCT CATEGORY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6FF"/>
                </a:solidFill>
                <a:latin typeface="Aptos"/>
              </a:defRPr>
            </a:pPr>
            <a:r>
              <a:t>COFFEE IS THE MAIN REVENUE DRIVER IN THIS PRACTICE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9B3CA"/>
                </a:solidFill>
                <a:latin typeface="Aptos"/>
              </a:defRPr>
            </a:pPr>
            <a:r>
              <a:t>Compare category revenue and profit before deciding which products deserve more shelf space or promotion.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9B3CA"/>
                </a:solidFill>
                <a:latin typeface="Aptos"/>
              </a:defRPr>
            </a:pPr>
            <a:r>
              <a:t>COFFEE SHOP SALES INTELLIGENCE • PRACTICE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9B3CA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7" name="Picture 6" descr="coffee_c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5960"/>
            <a:ext cx="6583680" cy="31272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24231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EA0FF"/>
                </a:solidFill>
                <a:latin typeface="Aptos"/>
              </a:defRPr>
            </a:pPr>
            <a:r>
              <a:t>TOP 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78892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6FF"/>
                </a:solidFill>
                <a:latin typeface="Aptos"/>
              </a:defRPr>
            </a:pPr>
            <a:r>
              <a:t>Coffee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42900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9B3CA"/>
                </a:solidFill>
                <a:latin typeface="Aptos"/>
              </a:defRPr>
            </a:pPr>
            <a:r>
              <a:t>$3,639 revenue</a:t>
            </a:r>
          </a:p>
          <a:p>
            <a:pPr>
              <a:defRPr sz="1600" b="0">
                <a:solidFill>
                  <a:srgbClr val="B9B3CA"/>
                </a:solidFill>
                <a:latin typeface="Aptos"/>
              </a:defRPr>
            </a:pPr>
            <a:r>
              <a:t>55.9% of total revenue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EA0FF"/>
                </a:solidFill>
                <a:latin typeface="Aptos"/>
              </a:defRPr>
            </a:pPr>
            <a:r>
              <a:t>05 — STORE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6FF"/>
                </a:solidFill>
                <a:latin typeface="Aptos"/>
              </a:defRPr>
            </a:pPr>
            <a:r>
              <a:t>REVENUE IS NOT THE SAME AS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9B3CA"/>
                </a:solidFill>
                <a:latin typeface="Aptos"/>
              </a:defRPr>
            </a:pPr>
            <a:r>
              <a:t>A high-revenue store may also have higher costs. The final dashboard should compare both measures where real cost data exists.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9B3CA"/>
                </a:solidFill>
                <a:latin typeface="Aptos"/>
              </a:defRPr>
            </a:pPr>
            <a:r>
              <a:t>COFFEE SHOP SALES INTELLIGENCE • PRACTICE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9B3CA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7" name="Picture 6" descr="coffee_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5760720" cy="31272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20840" y="22860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EA0FF"/>
                </a:solidFill>
                <a:latin typeface="Aptos"/>
              </a:defRPr>
            </a:pPr>
            <a:r>
              <a:t>QUESTIONS TO 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743200"/>
            <a:ext cx="4480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6FF"/>
                </a:solidFill>
                <a:latin typeface="Aptos"/>
              </a:defRPr>
            </a:pPr>
            <a:r>
              <a:t>• Which store generates the most revenue?</a:t>
            </a:r>
          </a:p>
          <a:p>
            <a:pPr>
              <a:defRPr sz="1600" b="0">
                <a:solidFill>
                  <a:srgbClr val="F8F6FF"/>
                </a:solidFill>
                <a:latin typeface="Aptos"/>
              </a:defRPr>
            </a:pPr>
          </a:p>
          <a:p>
            <a:pPr>
              <a:defRPr sz="1600" b="0">
                <a:solidFill>
                  <a:srgbClr val="F8F6FF"/>
                </a:solidFill>
                <a:latin typeface="Aptos"/>
              </a:defRPr>
            </a:pPr>
            <a:r>
              <a:t>• Is the top store also the most profitable?</a:t>
            </a:r>
          </a:p>
          <a:p>
            <a:pPr>
              <a:defRPr sz="1600" b="0">
                <a:solidFill>
                  <a:srgbClr val="F8F6FF"/>
                </a:solidFill>
                <a:latin typeface="Aptos"/>
              </a:defRPr>
            </a:pPr>
          </a:p>
          <a:p>
            <a:pPr>
              <a:defRPr sz="1600" b="0">
                <a:solidFill>
                  <a:srgbClr val="F8F6FF"/>
                </a:solidFill>
                <a:latin typeface="Aptos"/>
              </a:defRPr>
            </a:pPr>
            <a:r>
              <a:t>• Are sales differences caused by location, opening hours, or product mix?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EA0FF"/>
                </a:solidFill>
                <a:latin typeface="Aptos"/>
              </a:defRPr>
            </a:pPr>
            <a:r>
              <a:t>06 — SALES OVER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6FF"/>
                </a:solidFill>
                <a:latin typeface="Aptos"/>
              </a:defRPr>
            </a:pPr>
            <a:r>
              <a:t>MONTHLY TRENDS HELP PLAN STAFFING AND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9B3CA"/>
                </a:solidFill>
                <a:latin typeface="Aptos"/>
              </a:defRPr>
            </a:pPr>
            <a:r>
              <a:t>Use a line chart for a time series. Avoid treating category comparisons as if they were time trends.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9B3CA"/>
                </a:solidFill>
                <a:latin typeface="Aptos"/>
              </a:defRPr>
            </a:pPr>
            <a:r>
              <a:t>COFFEE SHOP SALES INTELLIGENCE • PRACTICE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9B3CA"/>
                </a:solidFill>
                <a:latin typeface="Aptos"/>
              </a:defRPr>
            </a:pPr>
            <a:r>
              <a:t>7</a:t>
            </a:r>
          </a:p>
        </p:txBody>
      </p:sp>
      <p:pic>
        <p:nvPicPr>
          <p:cNvPr id="7" name="Picture 6" descr="coffee_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28800"/>
            <a:ext cx="731520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2423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EA0FF"/>
                </a:solidFill>
                <a:latin typeface="Aptos"/>
              </a:defRPr>
            </a:pPr>
            <a:r>
              <a:t>ANALYSIS 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83464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8F6FF"/>
                </a:solidFill>
                <a:latin typeface="Aptos"/>
              </a:defRPr>
            </a:pPr>
            <a:r>
              <a:t>• Best sales month</a:t>
            </a:r>
          </a:p>
          <a:p>
            <a:pPr>
              <a:defRPr sz="1500" b="0">
                <a:solidFill>
                  <a:srgbClr val="F8F6FF"/>
                </a:solidFill>
                <a:latin typeface="Aptos"/>
              </a:defRPr>
            </a:pPr>
            <a:r>
              <a:t>• Lowest sales month</a:t>
            </a:r>
          </a:p>
          <a:p>
            <a:pPr>
              <a:defRPr sz="1500" b="0">
                <a:solidFill>
                  <a:srgbClr val="F8F6FF"/>
                </a:solidFill>
                <a:latin typeface="Aptos"/>
              </a:defRPr>
            </a:pPr>
            <a:r>
              <a:t>• Weekend vs weekday demand</a:t>
            </a:r>
          </a:p>
          <a:p>
            <a:pPr>
              <a:defRPr sz="1500" b="0">
                <a:solidFill>
                  <a:srgbClr val="F8F6FF"/>
                </a:solidFill>
                <a:latin typeface="Aptos"/>
              </a:defRPr>
            </a:pPr>
            <a:r>
              <a:t>• Peak hours by transaction count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EA0FF"/>
                </a:solidFill>
                <a:latin typeface="Aptos"/>
              </a:defRPr>
            </a:pPr>
            <a:r>
              <a:t>07 — CUSTOMER PURCHASE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6FF"/>
                </a:solidFill>
                <a:latin typeface="Aptos"/>
              </a:defRPr>
            </a:pPr>
            <a:r>
              <a:t>PEAK HOURS CAN GUIDE STAFFING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9B3CA"/>
                </a:solidFill>
                <a:latin typeface="Aptos"/>
              </a:defRPr>
            </a:pPr>
            <a:r>
              <a:t>The public dataset includes transaction time, so hourly demand can be calculated directly.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9B3CA"/>
                </a:solidFill>
                <a:latin typeface="Aptos"/>
              </a:defRPr>
            </a:pPr>
            <a:r>
              <a:t>COFFEE SHOP SALES INTELLIGENCE • PRACTICE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9B3CA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EA0FF"/>
                </a:solidFill>
                <a:latin typeface="Aptos"/>
              </a:defRPr>
            </a:pPr>
            <a:r>
              <a:t>RECOMMENDED VISUALS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8F6FF"/>
                </a:solidFill>
                <a:latin typeface="Aptos"/>
              </a:defRPr>
            </a:pPr>
            <a:r>
              <a:t>• Column chart: transactions by hour</a:t>
            </a:r>
          </a:p>
          <a:p>
            <a:pPr>
              <a:defRPr sz="1700" b="0">
                <a:solidFill>
                  <a:srgbClr val="F8F6FF"/>
                </a:solidFill>
                <a:latin typeface="Aptos"/>
              </a:defRPr>
            </a:pPr>
            <a:r>
              <a:t>• Bar chart: sales by weekday</a:t>
            </a:r>
          </a:p>
          <a:p>
            <a:pPr>
              <a:defRPr sz="1700" b="0">
                <a:solidFill>
                  <a:srgbClr val="F8F6FF"/>
                </a:solidFill>
                <a:latin typeface="Aptos"/>
              </a:defRPr>
            </a:pPr>
            <a:r>
              <a:t>• Heatmap: weekday × hour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945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EA0FF"/>
                </a:solidFill>
                <a:latin typeface="Aptos"/>
              </a:defRPr>
            </a:pPr>
            <a:r>
              <a:t>BUSINESS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6974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8F6FF"/>
                </a:solidFill>
                <a:latin typeface="Aptos"/>
              </a:defRPr>
            </a:pPr>
            <a:r>
              <a:t>Schedule enough staff during busy periods, prepare high-demand items in advance, and avoid overstaffing during quiet periods.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EA0FF"/>
                </a:solidFill>
                <a:latin typeface="Aptos"/>
              </a:defRPr>
            </a:pPr>
            <a:r>
              <a:t>08 — DATA QUALITY &amp; ANALYST CAUTION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6FF"/>
                </a:solidFill>
                <a:latin typeface="Aptos"/>
              </a:defRPr>
            </a:pPr>
            <a:r>
              <a:t>DON’T TURN A DASHBOARD INTO A MISLEADING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9B3CA"/>
                </a:solidFill>
                <a:latin typeface="Aptos"/>
              </a:defRPr>
            </a:pPr>
            <a:r>
              <a:t>Good analysis includes limitations, not just attractive charts.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9B3CA"/>
                </a:solidFill>
                <a:latin typeface="Aptos"/>
              </a:defRPr>
            </a:pPr>
            <a:r>
              <a:t>COFFEE SHOP SALES INTELLIGENCE • PRACTICE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9B3CA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8F6FF"/>
                </a:solidFill>
                <a:latin typeface="Aptos"/>
              </a:defRPr>
            </a:pPr>
            <a:r>
              <a:t>• The attached practice CSV is simulated and is not the real Kaggle dataset.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7063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8F6FF"/>
                </a:solidFill>
                <a:latin typeface="Aptos"/>
              </a:defRPr>
            </a:pPr>
            <a:r>
              <a:t>• Estimated costs and profit are synthetic assumptions; replace with verified cost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83864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8F6FF"/>
                </a:solidFill>
                <a:latin typeface="Aptos"/>
              </a:defRPr>
            </a:pPr>
            <a:r>
              <a:t>• Revenue is not profit. Discounts can increase volume while reducing margin.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97096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8F6FF"/>
                </a:solidFill>
                <a:latin typeface="Aptos"/>
              </a:defRPr>
            </a:pPr>
            <a:r>
              <a:t>• Use average ratings only if actual customer-rating data exists; this coffee dataset does not include ratings.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1032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8F6FF"/>
                </a:solidFill>
                <a:latin typeface="Aptos"/>
              </a:defRPr>
            </a:pPr>
            <a:r>
              <a:t>• Check missing values, duplicates, date types, and outliers before charting.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EA0FF"/>
                </a:solidFill>
                <a:latin typeface="Aptos"/>
              </a:defRPr>
            </a:pPr>
            <a:r>
              <a:t>09 — DATASET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6FF"/>
                </a:solidFill>
                <a:latin typeface="Aptos"/>
              </a:defRPr>
            </a:pPr>
            <a:r>
              <a:t>USE THE PUBLIC DATASET FOR YOUR FINAL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9B3CA"/>
                </a:solidFill>
                <a:latin typeface="Aptos"/>
              </a:defRPr>
            </a:pPr>
            <a:r>
              <a:t>The public Coffee Shop Sales dataset has 149,116 transactions covering January–June 2023.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9B3CA"/>
                </a:solidFill>
                <a:latin typeface="Aptos"/>
              </a:defRPr>
            </a:pPr>
            <a:r>
              <a:t>COFFEE SHOP SALES INTELLIGENCE • PRACTICE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9B3C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EA0FF"/>
                </a:solidFill>
                <a:latin typeface="Aptos"/>
              </a:defRPr>
            </a:pPr>
            <a:r>
              <a:t>SOURCE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8F6FF"/>
                </a:solidFill>
                <a:latin typeface="Aptos"/>
              </a:defRPr>
            </a:pPr>
            <a:r>
              <a:t>Kaggle — Coffee Shop Sales.csv (149,116 transactions)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EA0FF"/>
                </a:solidFill>
                <a:latin typeface="Aptos"/>
              </a:defRPr>
            </a:pPr>
            <a:r>
              <a:t>https://www.kaggle.com/code/lalit7881/coffee-shop-sales-eda-100/input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86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EA0FF"/>
                </a:solidFill>
                <a:latin typeface="Aptos"/>
              </a:defRPr>
            </a:pPr>
            <a:r>
              <a:t>Suggested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97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8F6FF"/>
                </a:solidFill>
                <a:latin typeface="Aptos"/>
              </a:defRPr>
            </a:pPr>
            <a:r>
              <a:t>1. Download the source CSV  •  2. Clean dates and missing values  •  3. Calculate revenue and KPIs  •  4. Build visuals in Excel or Power BI  •  5. Write 4–6 evidence-based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9B3CA"/>
                </a:solidFill>
                <a:latin typeface="Aptos"/>
              </a:defRPr>
            </a:pPr>
            <a:r>
              <a:t>Public dataset facts: source listing reports 149,116 transactions, product details, prices, quantities, store locations, and timestamps.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EA0FF"/>
                </a:solidFill>
                <a:latin typeface="Aptos"/>
              </a:defRPr>
            </a:pPr>
            <a:r>
              <a:t>10 — FINAL POWER BI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6FF"/>
                </a:solidFill>
                <a:latin typeface="Aptos"/>
              </a:defRPr>
            </a:pPr>
            <a:r>
              <a:t>COFFEE SHOP SALES | OVERALL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51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9B3CA"/>
                </a:solidFill>
                <a:latin typeface="Aptos"/>
              </a:defRPr>
            </a:pPr>
            <a:r>
              <a:t>Power BI-inspired dashboard mockup built from the simulated practice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28232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9B3CA"/>
                </a:solidFill>
                <a:latin typeface="Aptos"/>
              </a:defRPr>
            </a:pPr>
            <a:r>
              <a:t>Note: this is a dashboard mockup image, not an exported screenshot from the Power BI application.</a:t>
            </a:r>
          </a:p>
        </p:txBody>
      </p:sp>
      <p:pic>
        <p:nvPicPr>
          <p:cNvPr id="7" name="Picture 6" descr="coffee_shop_powerbi_dashboard_intermedi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353312"/>
            <a:ext cx="11411712" cy="52303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